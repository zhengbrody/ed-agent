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 Management System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human-inspired architecture for AI agent working memory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18745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71600"/>
            <a:ext cx="1874520" cy="54864"/>
          </a:xfrm>
          <a:prstGeom prst="rect">
            <a:avLst/>
          </a:prstGeom>
          <a:solidFill>
            <a:srgbClr val="4A90D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002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0574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Storage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237744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memory carries content, importance score, timestamp, and metadata. Strict capacity, token, and TTL limits enforce resource discipline.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560320" y="1371600"/>
            <a:ext cx="18745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560320" y="1371600"/>
            <a:ext cx="1874520" cy="54864"/>
          </a:xfrm>
          <a:prstGeom prst="rect">
            <a:avLst/>
          </a:prstGeom>
          <a:solidFill>
            <a:srgbClr val="4A90D9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16002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51760" y="20574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Retrieval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2651760" y="237744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scoring blends TF-IDF vector similarity with keyword overlap, modulated by time decay and importance weighting.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572000" y="1371600"/>
            <a:ext cx="18745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572000" y="1371600"/>
            <a:ext cx="1874520" cy="54864"/>
          </a:xfrm>
          <a:prstGeom prst="rect">
            <a:avLst/>
          </a:prstGeom>
          <a:solidFill>
            <a:srgbClr val="4A90D9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60020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663440" y="20574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Priority &amp; Decay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4663440" y="237744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time decay reduces older memories’ influence. A heap structure enables efficient eviction of the lowest-priority item.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6583680" y="1371600"/>
            <a:ext cx="18745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583680" y="1371600"/>
            <a:ext cx="1874520" cy="54864"/>
          </a:xfrm>
          <a:prstGeom prst="rect">
            <a:avLst/>
          </a:prstGeom>
          <a:solidFill>
            <a:srgbClr val="4A90D9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160020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675120" y="20574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Forgetting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6675120" y="2377440"/>
            <a:ext cx="1691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strategies — importance-based, time-based, and capacity-based — prune low-value content while preserving critical information.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162050"/>
          </a:solidFill>
          <a:ln/>
        </p:spPr>
      </p:sp>
      <p:sp>
        <p:nvSpPr>
          <p:cNvPr id="26" name="Text 20"/>
          <p:cNvSpPr/>
          <p:nvPr/>
        </p:nvSpPr>
        <p:spPr>
          <a:xfrm>
            <a:off x="548640" y="45262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Capacity: </a:t>
            </a:r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items  •  </a:t>
            </a:r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Limit: </a:t>
            </a:r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 •  </a:t>
            </a:r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TTL: </a:t>
            </a:r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min  •  </a:t>
            </a:r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Decay: </a:t>
            </a:r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 / 6h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 Integration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specialized tools integrated into the ReAct framework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18745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71600"/>
            <a:ext cx="1874520" cy="54864"/>
          </a:xfrm>
          <a:prstGeom prst="rect">
            <a:avLst/>
          </a:prstGeom>
          <a:solidFill>
            <a:srgbClr val="4A90D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544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011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237744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— save key facts with importance scores</a:t>
            </a:r>
            <a:endParaRPr lang="en-US" sz="9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— query relevant memories by context</a:t>
            </a:r>
            <a:endParaRPr lang="en-US" sz="9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 — prune low-value or expired entries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560320" y="1371600"/>
            <a:ext cx="18745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560320" y="1371600"/>
            <a:ext cx="1874520" cy="54864"/>
          </a:xfrm>
          <a:prstGeom prst="rect">
            <a:avLst/>
          </a:prstGeom>
          <a:solidFill>
            <a:srgbClr val="4A90D9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15544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51760" y="2011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Loader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2651760" y="237744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parser for IEEE bus test cases</a:t>
            </a:r>
            <a:endParaRPr lang="en-US" sz="9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generator limits, cost curves, and demand data</a:t>
            </a:r>
            <a:endParaRPr lang="en-US" sz="9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structured inputs to downstream solvers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572000" y="1371600"/>
            <a:ext cx="18745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572000" y="1371600"/>
            <a:ext cx="1874520" cy="54864"/>
          </a:xfrm>
          <a:prstGeom prst="rect">
            <a:avLst/>
          </a:prstGeom>
          <a:solidFill>
            <a:srgbClr val="4A90D9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5544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663440" y="2011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Optimization Solver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4663440" y="237744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with MATPOWER and CVXPY</a:t>
            </a:r>
            <a:endParaRPr lang="en-US" sz="9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quadratic ED optimization problems</a:t>
            </a:r>
            <a:endParaRPr lang="en-US" sz="9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optimal dispatch and objective cost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6583680" y="1371600"/>
            <a:ext cx="18745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583680" y="1371600"/>
            <a:ext cx="1874520" cy="54864"/>
          </a:xfrm>
          <a:prstGeom prst="rect">
            <a:avLst/>
          </a:prstGeom>
          <a:solidFill>
            <a:srgbClr val="4A90D9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155448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675120" y="20116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Visualizer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6675120" y="237744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dispatch curves per generator</a:t>
            </a:r>
            <a:endParaRPr lang="en-US" sz="9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cost-benefit comparison plots</a:t>
            </a:r>
            <a:endParaRPr lang="en-US" sz="9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9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 publication-ready figures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162050"/>
          </a:solidFill>
          <a:ln/>
        </p:spPr>
      </p:sp>
      <p:sp>
        <p:nvSpPr>
          <p:cNvPr id="26" name="Text 20"/>
          <p:cNvSpPr/>
          <p:nvPr/>
        </p:nvSpPr>
        <p:spPr>
          <a:xfrm>
            <a:off x="548640" y="45262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</a:t>
            </a:r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 over the task  →  </a:t>
            </a:r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</a:t>
            </a:r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appropriate tool  →  </a:t>
            </a:r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</a:t>
            </a:r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observes the result  →  </a:t>
            </a:r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 Framework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 – Action – Observation cycle with chained tool invocation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1874520" cy="2423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71600"/>
            <a:ext cx="1874520" cy="594360"/>
          </a:xfrm>
          <a:prstGeom prst="rect">
            <a:avLst/>
          </a:prstGeom>
          <a:solidFill>
            <a:srgbClr val="2E5FA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50876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44475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Thought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58368" y="2103120"/>
            <a:ext cx="16550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decomposes the user’s natural language query into logical sub-tasks, identifying which data, solvers, and constraints are relevant.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2432304" y="1554480"/>
            <a:ext cx="118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560320" y="1371600"/>
            <a:ext cx="1874520" cy="2423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560320" y="1371600"/>
            <a:ext cx="1874520" cy="594360"/>
          </a:xfrm>
          <a:prstGeom prst="rect">
            <a:avLst/>
          </a:prstGeom>
          <a:solidFill>
            <a:srgbClr val="3A7BD5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0048" y="150876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017520" y="144475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2670048" y="2103120"/>
            <a:ext cx="16550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issues a chained tool call — a sequence of tools executed atomically. Memory is updated within the chain, preserving intermediate results for future reasoning.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4443984" y="1554480"/>
            <a:ext cx="118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572000" y="1371600"/>
            <a:ext cx="1874520" cy="2423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572000" y="1371600"/>
            <a:ext cx="1874520" cy="594360"/>
          </a:xfrm>
          <a:prstGeom prst="rect">
            <a:avLst/>
          </a:prstGeom>
          <a:solidFill>
            <a:srgbClr val="5B9BD5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728" y="150876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029200" y="144475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Observation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4681728" y="2103120"/>
            <a:ext cx="16550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outputs and error messages serve as grounded feedback. The agent inspects results, detects failures, and decides whether to iterate or conclude.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6455664" y="1554480"/>
            <a:ext cx="118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583680" y="1371600"/>
            <a:ext cx="1874520" cy="2423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583680" y="1371600"/>
            <a:ext cx="1874520" cy="594360"/>
          </a:xfrm>
          <a:prstGeom prst="rect">
            <a:avLst/>
          </a:prstGeom>
          <a:solidFill>
            <a:srgbClr val="7B68AE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08" y="1508760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040880" y="144475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Safety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6693408" y="2103120"/>
            <a:ext cx="16550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hard iteration cap prevents infinite loops from tool errors or reasoning failures, bounding computational cost and ensuring system robustness.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548640" y="3931920"/>
            <a:ext cx="7452360" cy="2743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29" name="Text 23"/>
          <p:cNvSpPr/>
          <p:nvPr/>
        </p:nvSpPr>
        <p:spPr>
          <a:xfrm>
            <a:off x="548640" y="39776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 Cycle repeats until conclusive answer or iteration limit reached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162050"/>
          </a:solidFill>
          <a:ln/>
        </p:spPr>
      </p:sp>
      <p:sp>
        <p:nvSpPr>
          <p:cNvPr id="31" name="Text 25"/>
          <p:cNvSpPr/>
          <p:nvPr/>
        </p:nvSpPr>
        <p:spPr>
          <a:xfrm>
            <a:off x="548640" y="45262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Chained Actions: </a:t>
            </a:r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tool₁ → memory.store → tool₂ → memory.store → … executed atomically per action step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OpenWebUI frontend communicating with a FastAPI backend and SQLite persistence layer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8046720" cy="0"/>
          </a:xfrm>
          <a:prstGeom prst="line">
            <a:avLst/>
          </a:prstGeom>
          <a:noFill/>
          <a:ln w="19050">
            <a:solidFill>
              <a:srgbClr val="4A90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24688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71600"/>
            <a:ext cx="2468880" cy="777240"/>
          </a:xfrm>
          <a:prstGeom prst="rect">
            <a:avLst/>
          </a:prstGeom>
          <a:solidFill>
            <a:srgbClr val="2E5FA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81328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78992" y="1417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78992" y="1755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OpenWebUI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85800" y="228600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Chat-based user interface</a:t>
            </a:r>
            <a:endParaRPr lang="en-US" sz="9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queries via OpenAI-compatible API</a:t>
            </a:r>
            <a:endParaRPr lang="en-US" sz="9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agent responses and visualizations</a:t>
            </a:r>
            <a:endParaRPr lang="en-US" sz="9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custom frontend code required</a:t>
            </a:r>
            <a:endParaRPr lang="en-US" sz="9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5808" y="1600200"/>
            <a:ext cx="182880" cy="1828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246120" y="1371600"/>
            <a:ext cx="24688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246120" y="1371600"/>
            <a:ext cx="2468880" cy="777240"/>
          </a:xfrm>
          <a:prstGeom prst="rect">
            <a:avLst/>
          </a:prstGeom>
          <a:solidFill>
            <a:srgbClr val="3A7BD5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1481328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776472" y="1417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3776472" y="1755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ReAct Agent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3383280" y="228600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OpenAI-format /chat/completions endpoint</a:t>
            </a:r>
            <a:endParaRPr lang="en-US" sz="9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engine orchestrates Thought–Action–Observation cycles</a:t>
            </a:r>
            <a:endParaRPr lang="en-US" sz="9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Chained tool calls: solver, loader, visualizer, memory</a:t>
            </a:r>
            <a:endParaRPr lang="en-US" sz="9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memory managed in-process with priority and decay</a:t>
            </a:r>
            <a:endParaRPr lang="en-US" sz="9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3288" y="1600200"/>
            <a:ext cx="182880" cy="18288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5943600" y="1371600"/>
            <a:ext cx="246888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5943600" y="1371600"/>
            <a:ext cx="2468880" cy="777240"/>
          </a:xfrm>
          <a:prstGeom prst="rect">
            <a:avLst/>
          </a:prstGeom>
          <a:solidFill>
            <a:srgbClr val="7B68AE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0" y="1481328"/>
            <a:ext cx="320040" cy="3200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473952" y="1417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Persistence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6473952" y="1755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Document Store</a:t>
            </a:r>
            <a:endParaRPr lang="en-US" sz="950" dirty="0"/>
          </a:p>
        </p:txBody>
      </p:sp>
      <p:sp>
        <p:nvSpPr>
          <p:cNvPr id="24" name="Text 17"/>
          <p:cNvSpPr/>
          <p:nvPr/>
        </p:nvSpPr>
        <p:spPr>
          <a:xfrm>
            <a:off x="6080760" y="228600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memories with importance scores and timestamps</a:t>
            </a:r>
            <a:endParaRPr lang="en-US" sz="9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by user, type, time, and importance</a:t>
            </a:r>
            <a:endParaRPr lang="en-US" sz="9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graph links memories to semantic entities</a:t>
            </a:r>
            <a:endParaRPr lang="en-US" sz="9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Thread-safe singleton with connection pooling</a:t>
            </a:r>
            <a:endParaRPr lang="en-US" sz="950" dirty="0"/>
          </a:p>
        </p:txBody>
      </p:sp>
      <p:sp>
        <p:nvSpPr>
          <p:cNvPr id="25" name="Shape 18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162050"/>
          </a:solidFill>
          <a:ln/>
        </p:spPr>
      </p:sp>
      <p:sp>
        <p:nvSpPr>
          <p:cNvPr id="26" name="Text 19"/>
          <p:cNvSpPr/>
          <p:nvPr/>
        </p:nvSpPr>
        <p:spPr>
          <a:xfrm>
            <a:off x="548640" y="45262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</a:t>
            </a:r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OpenWebUI  →  /chat/completions  </a:t>
            </a:r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ReAct Agent  </a:t>
            </a:r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Tools + Memory  →  SQLite  </a:t>
            </a:r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Response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620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End-to-End Example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14-bus Economic Dispatch — Full ReAct Loop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85800"/>
            <a:ext cx="91440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pic>
        <p:nvPicPr>
          <p:cNvPr id="6" name="Image 0" descr="/mnt/user-data/uploads/01c70a64862861e523d3a547fdddee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07765" y="777240"/>
            <a:ext cx="1928470" cy="4343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EDAgent System Overview</dc:title>
  <dc:subject>PptxGenJS Presentation</dc:subject>
  <dc:creator>Dylan</dc:creator>
  <cp:lastModifiedBy>Dylan</cp:lastModifiedBy>
  <cp:revision>1</cp:revision>
  <dcterms:created xsi:type="dcterms:W3CDTF">2026-02-23T19:08:30Z</dcterms:created>
  <dcterms:modified xsi:type="dcterms:W3CDTF">2026-02-23T19:08:30Z</dcterms:modified>
</cp:coreProperties>
</file>